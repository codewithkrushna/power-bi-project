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8" r:id="rId9"/>
    <p:sldId id="269" r:id="rId10"/>
    <p:sldId id="270" r:id="rId11"/>
    <p:sldId id="271" r:id="rId12"/>
    <p:sldId id="262" r:id="rId13"/>
    <p:sldId id="263" r:id="rId14"/>
    <p:sldId id="267" r:id="rId15"/>
    <p:sldId id="264" r:id="rId16"/>
    <p:sldId id="265" r:id="rId17"/>
    <p:sldId id="272" r:id="rId18"/>
  </p:sldIdLst>
  <p:sldSz cx="18288000" cy="10287000"/>
  <p:notesSz cx="6858000" cy="9144000"/>
  <p:embeddedFontLst>
    <p:embeddedFont>
      <p:font typeface="Sansation Bold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163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8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hyperlink" Target="https://openclipart.org/detail/6970/stevelambert-reference-desk-by-stevelambert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hyperlink" Target="https://www.pexels.com/photo/advice-lettering-text-on-black-background-5697261/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hyperlink" Target="https://rincondelemprendedor.es/como-empezar-un-negocio-sin-presupuesto/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362200" y="2332871"/>
            <a:ext cx="14325179" cy="3243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3269"/>
              </a:lnSpc>
              <a:spcBef>
                <a:spcPct val="0"/>
              </a:spcBef>
            </a:pPr>
            <a:r>
              <a:rPr lang="en-US" sz="8800" b="1" spc="110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Quality Audit Performance Dashboard 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59333B46-002B-6CA3-6253-CC7F2422569B}"/>
              </a:ext>
            </a:extLst>
          </p:cNvPr>
          <p:cNvSpPr txBox="1"/>
          <p:nvPr/>
        </p:nvSpPr>
        <p:spPr>
          <a:xfrm>
            <a:off x="8534400" y="6888216"/>
            <a:ext cx="8261144" cy="651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82"/>
              </a:lnSpc>
              <a:spcBef>
                <a:spcPct val="0"/>
              </a:spcBef>
            </a:pPr>
            <a:r>
              <a:rPr lang="en-US" sz="3654" spc="109" dirty="0">
                <a:solidFill>
                  <a:srgbClr val="3F3E3A"/>
                </a:solidFill>
                <a:latin typeface="Sansation Bold" panose="020B0604020202020204"/>
                <a:ea typeface="Clear Sans"/>
                <a:cs typeface="Clear Sans"/>
                <a:sym typeface="Clear Sans"/>
              </a:rPr>
              <a:t>-By </a:t>
            </a:r>
            <a:r>
              <a:rPr lang="en-US" sz="3654" spc="109" dirty="0" err="1">
                <a:solidFill>
                  <a:srgbClr val="3F3E3A"/>
                </a:solidFill>
                <a:latin typeface="Sansation Bold" panose="020B0604020202020204"/>
                <a:ea typeface="Clear Sans"/>
                <a:cs typeface="Clear Sans"/>
                <a:sym typeface="Clear Sans"/>
              </a:rPr>
              <a:t>Krushnakant</a:t>
            </a:r>
            <a:r>
              <a:rPr lang="en-US" sz="3654" spc="109" dirty="0">
                <a:solidFill>
                  <a:srgbClr val="3F3E3A"/>
                </a:solidFill>
                <a:latin typeface="Sansation Bold" panose="020B0604020202020204"/>
                <a:ea typeface="Clear Sans"/>
                <a:cs typeface="Clear Sans"/>
                <a:sym typeface="Clear Sans"/>
              </a:rPr>
              <a:t>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08649" y="2741050"/>
            <a:ext cx="12070701" cy="161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latin typeface="Sansation Bold" panose="020B0604020202020204"/>
              </a:rPr>
              <a:t>The primary objective of this report is to evaluate the operational quality and process compliance across the organization for the 2019 fiscal year. By analyzing audit data from the </a:t>
            </a:r>
            <a:r>
              <a:rPr lang="en-US" b="1" dirty="0">
                <a:latin typeface="Sansation Bold" panose="020B0604020202020204"/>
              </a:rPr>
              <a:t>Backoffice, Sales, and Finance</a:t>
            </a:r>
            <a:r>
              <a:rPr lang="en-US" dirty="0">
                <a:latin typeface="Sansation Bold" panose="020B0604020202020204"/>
              </a:rPr>
              <a:t> departments, this report identifies critical performance gaps, highlights excellence in management, and provides data-driven strategies to minimize defects and errors.</a:t>
            </a:r>
            <a:endParaRPr lang="en-US" spc="100" dirty="0">
              <a:solidFill>
                <a:srgbClr val="3F3E3A"/>
              </a:solidFill>
              <a:latin typeface="Sansation Bold" panose="020B0604020202020204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08650" y="773431"/>
            <a:ext cx="11689257" cy="130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36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BF7D5-7B68-D600-00B6-3CC93B595B6E}"/>
              </a:ext>
            </a:extLst>
          </p:cNvPr>
          <p:cNvSpPr txBox="1"/>
          <p:nvPr/>
        </p:nvSpPr>
        <p:spPr>
          <a:xfrm>
            <a:off x="2777074" y="2180040"/>
            <a:ext cx="11745514" cy="4611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ansation Bold" panose="020B0604020202020204"/>
              </a:rPr>
              <a:t>To analyze employee performance, defects %, errors %, and overall quality score using interactive dashboards.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Analyze overall quality performance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Track Defects % and Errors % by month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Compare performance across: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Departments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Managers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Employees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Locations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Identify low-performing areas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Support data-driven decision making</a:t>
            </a:r>
          </a:p>
          <a:p>
            <a:pPr>
              <a:lnSpc>
                <a:spcPct val="150000"/>
              </a:lnSpc>
            </a:pPr>
            <a:endParaRPr lang="en-IN" dirty="0">
              <a:latin typeface="Sansation Bold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6F1F30-8030-8DD7-A238-D1C865E832A1}"/>
              </a:ext>
            </a:extLst>
          </p:cNvPr>
          <p:cNvSpPr txBox="1"/>
          <p:nvPr/>
        </p:nvSpPr>
        <p:spPr>
          <a:xfrm>
            <a:off x="7162138" y="627502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Sansation Bold" panose="020B0604020202020204"/>
              </a:rPr>
              <a:t>Objective:-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B7F77-DC72-BABA-D65E-48B814A3A45D}"/>
              </a:ext>
            </a:extLst>
          </p:cNvPr>
          <p:cNvSpPr txBox="1"/>
          <p:nvPr/>
        </p:nvSpPr>
        <p:spPr>
          <a:xfrm>
            <a:off x="7086600" y="625665"/>
            <a:ext cx="2593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Sansation Bold" panose="020B0604020202020204"/>
              </a:rPr>
              <a:t>Data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8C179-9327-66ED-C2EC-28B06EC26288}"/>
              </a:ext>
            </a:extLst>
          </p:cNvPr>
          <p:cNvSpPr txBox="1"/>
          <p:nvPr/>
        </p:nvSpPr>
        <p:spPr>
          <a:xfrm>
            <a:off x="2146633" y="2620461"/>
            <a:ext cx="346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Sansation Bold" panose="020B0604020202020204"/>
              </a:rPr>
              <a:t>Main Table is Fact Quality Audit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DA9474-873B-9C00-C3E6-22E1366046B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2589192"/>
            <a:ext cx="9171638" cy="6397118"/>
          </a:xfrm>
          <a:prstGeom prst="rect">
            <a:avLst/>
          </a:prstGeom>
        </p:spPr>
      </p:pic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56BD07CA-0829-BD1E-2FFA-42D8AED17B1C}"/>
              </a:ext>
            </a:extLst>
          </p:cNvPr>
          <p:cNvSpPr/>
          <p:nvPr/>
        </p:nvSpPr>
        <p:spPr>
          <a:xfrm>
            <a:off x="11098312" y="1434690"/>
            <a:ext cx="838200" cy="762000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86B4B9-C7F6-18EF-90EF-78D608A6E6C8}"/>
              </a:ext>
            </a:extLst>
          </p:cNvPr>
          <p:cNvSpPr txBox="1"/>
          <p:nvPr/>
        </p:nvSpPr>
        <p:spPr>
          <a:xfrm>
            <a:off x="11936512" y="1600246"/>
            <a:ext cx="18556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Sansation Bold" panose="020B0604020202020204"/>
              </a:rPr>
              <a:t>Star Schema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19ECA-FF57-F3AA-4652-EF729FDB9391}"/>
              </a:ext>
            </a:extLst>
          </p:cNvPr>
          <p:cNvSpPr txBox="1"/>
          <p:nvPr/>
        </p:nvSpPr>
        <p:spPr>
          <a:xfrm>
            <a:off x="838200" y="3216947"/>
            <a:ext cx="7832593" cy="2949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Sansation Bold" panose="020B0604020202020204"/>
              </a:rPr>
              <a:t>One-</a:t>
            </a:r>
            <a:r>
              <a:rPr lang="en-IN" dirty="0" err="1">
                <a:latin typeface="Sansation Bold" panose="020B0604020202020204"/>
              </a:rPr>
              <a:t>Dim_Auditor</a:t>
            </a:r>
            <a:r>
              <a:rPr lang="en-IN" dirty="0">
                <a:latin typeface="Sansation Bold" panose="020B0604020202020204"/>
              </a:rPr>
              <a:t> to Many</a:t>
            </a:r>
            <a:r>
              <a:rPr lang="en-IN" dirty="0"/>
              <a:t>-</a:t>
            </a:r>
            <a:r>
              <a:rPr lang="en-IN" dirty="0" err="1">
                <a:latin typeface="Sansation Bold" panose="020B0604020202020204"/>
              </a:rPr>
              <a:t>Fact_Quality_Audit</a:t>
            </a:r>
            <a:r>
              <a:rPr lang="en-IN" dirty="0">
                <a:latin typeface="Sansation Bold" panose="020B0604020202020204"/>
              </a:rPr>
              <a:t>-(Relationship is 1 to *)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ation Bold" panose="020B0604020202020204"/>
              </a:rPr>
              <a:t>One-</a:t>
            </a:r>
            <a:r>
              <a:rPr lang="en-IN" dirty="0" err="1">
                <a:latin typeface="Sansation Bold" panose="020B0604020202020204"/>
              </a:rPr>
              <a:t>Dim_Department</a:t>
            </a:r>
            <a:r>
              <a:rPr lang="en-IN" dirty="0">
                <a:latin typeface="Sansation Bold" panose="020B0604020202020204"/>
              </a:rPr>
              <a:t> to Many</a:t>
            </a:r>
            <a:r>
              <a:rPr lang="en-IN" dirty="0"/>
              <a:t>-</a:t>
            </a:r>
            <a:r>
              <a:rPr lang="en-IN" dirty="0" err="1">
                <a:latin typeface="Sansation Bold" panose="020B0604020202020204"/>
              </a:rPr>
              <a:t>Fact_Quality_Audit</a:t>
            </a:r>
            <a:r>
              <a:rPr lang="en-IN" dirty="0">
                <a:latin typeface="Sansation Bold" panose="020B0604020202020204"/>
              </a:rPr>
              <a:t>-(Relationship is 1 to *)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ation Bold" panose="020B0604020202020204"/>
              </a:rPr>
              <a:t>One-Dim _Employee to Many</a:t>
            </a:r>
            <a:r>
              <a:rPr lang="en-IN" dirty="0"/>
              <a:t>-</a:t>
            </a:r>
            <a:r>
              <a:rPr lang="en-IN" dirty="0" err="1">
                <a:latin typeface="Sansation Bold" panose="020B0604020202020204"/>
              </a:rPr>
              <a:t>Fact_Quality_Audit</a:t>
            </a:r>
            <a:r>
              <a:rPr lang="en-IN" dirty="0">
                <a:latin typeface="Sansation Bold" panose="020B0604020202020204"/>
              </a:rPr>
              <a:t>-(Relationship is 1 to *)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ation Bold" panose="020B0604020202020204"/>
              </a:rPr>
              <a:t>One-</a:t>
            </a:r>
            <a:r>
              <a:rPr lang="en-IN" dirty="0" err="1">
                <a:latin typeface="Sansation Bold" panose="020B0604020202020204"/>
              </a:rPr>
              <a:t>Dim_Date</a:t>
            </a:r>
            <a:r>
              <a:rPr lang="en-IN" dirty="0">
                <a:latin typeface="Sansation Bold" panose="020B0604020202020204"/>
              </a:rPr>
              <a:t> to Many</a:t>
            </a:r>
            <a:r>
              <a:rPr lang="en-IN" dirty="0"/>
              <a:t>-</a:t>
            </a:r>
            <a:r>
              <a:rPr lang="en-IN" dirty="0" err="1">
                <a:latin typeface="Sansation Bold" panose="020B0604020202020204"/>
              </a:rPr>
              <a:t>Fact_Quality_Audit</a:t>
            </a:r>
            <a:r>
              <a:rPr lang="en-IN" dirty="0">
                <a:latin typeface="Sansation Bold" panose="020B0604020202020204"/>
              </a:rPr>
              <a:t>-(Relationship is 1 to *)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ation Bold" panose="020B0604020202020204"/>
              </a:rPr>
              <a:t>One-</a:t>
            </a:r>
            <a:r>
              <a:rPr lang="en-IN" dirty="0" err="1">
                <a:latin typeface="Sansation Bold" panose="020B0604020202020204"/>
              </a:rPr>
              <a:t>Dim_Manager</a:t>
            </a:r>
            <a:r>
              <a:rPr lang="en-IN" dirty="0">
                <a:latin typeface="Sansation Bold" panose="020B0604020202020204"/>
              </a:rPr>
              <a:t> to Many</a:t>
            </a:r>
            <a:r>
              <a:rPr lang="en-IN" dirty="0"/>
              <a:t>-</a:t>
            </a:r>
            <a:r>
              <a:rPr lang="en-IN" dirty="0" err="1">
                <a:latin typeface="Sansation Bold" panose="020B0604020202020204"/>
              </a:rPr>
              <a:t>Fact_Quality_Audit</a:t>
            </a:r>
            <a:r>
              <a:rPr lang="en-IN" dirty="0">
                <a:latin typeface="Sansation Bold" panose="020B0604020202020204"/>
              </a:rPr>
              <a:t>-(Relationship is 1 to *)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ation Bold" panose="020B0604020202020204"/>
              </a:rPr>
              <a:t>One -</a:t>
            </a:r>
            <a:r>
              <a:rPr lang="en-IN" dirty="0" err="1">
                <a:latin typeface="Sansation Bold" panose="020B0604020202020204"/>
              </a:rPr>
              <a:t>Dim_Depeartment</a:t>
            </a:r>
            <a:r>
              <a:rPr lang="en-IN" dirty="0">
                <a:latin typeface="Sansation Bold" panose="020B0604020202020204"/>
              </a:rPr>
              <a:t> to Many-</a:t>
            </a:r>
            <a:r>
              <a:rPr lang="en-IN" dirty="0" err="1">
                <a:latin typeface="Sansation Bold" panose="020B0604020202020204"/>
              </a:rPr>
              <a:t>Dim_Employee</a:t>
            </a:r>
            <a:r>
              <a:rPr lang="en-IN" dirty="0">
                <a:latin typeface="Sansation Bold" panose="020B0604020202020204"/>
              </a:rPr>
              <a:t>-(Relationship is 1 to *)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Sansation Bold" panose="020B0604020202020204"/>
              </a:rPr>
              <a:t>Many-</a:t>
            </a:r>
            <a:r>
              <a:rPr lang="en-IN" dirty="0" err="1">
                <a:latin typeface="Sansation Bold" panose="020B0604020202020204"/>
              </a:rPr>
              <a:t>Dim_Employee</a:t>
            </a:r>
            <a:r>
              <a:rPr lang="en-IN" dirty="0">
                <a:latin typeface="Sansation Bold" panose="020B0604020202020204"/>
              </a:rPr>
              <a:t> is One-</a:t>
            </a:r>
            <a:r>
              <a:rPr lang="en-IN" dirty="0" err="1">
                <a:latin typeface="Sansation Bold" panose="020B0604020202020204"/>
              </a:rPr>
              <a:t>Dim_Manager</a:t>
            </a:r>
            <a:r>
              <a:rPr lang="en-IN" dirty="0">
                <a:latin typeface="Sansation Bold" panose="020B0604020202020204"/>
              </a:rPr>
              <a:t>-(Relationship is * to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68891" y="155467"/>
            <a:ext cx="11689257" cy="130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12549"/>
              </a:lnSpc>
              <a:spcBef>
                <a:spcPct val="0"/>
              </a:spcBef>
            </a:pPr>
            <a:r>
              <a:rPr lang="en-IN" sz="3600" dirty="0">
                <a:latin typeface="Sansation Bold" panose="020B0604020202020204"/>
              </a:rPr>
              <a:t>Overall Quality Performance</a:t>
            </a:r>
            <a:endParaRPr lang="en-US" sz="3600" b="1" spc="104" dirty="0">
              <a:solidFill>
                <a:srgbClr val="000000"/>
              </a:solidFill>
              <a:latin typeface="Sansation Bold" panose="020B0604020202020204"/>
              <a:ea typeface="Sansation Bold" panose="020B0604020202020204"/>
              <a:cs typeface="Sansation Bold" panose="020B0604020202020204"/>
              <a:sym typeface="Sansation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7816A4-7C43-4972-53CF-0F607B85CF4C}"/>
              </a:ext>
            </a:extLst>
          </p:cNvPr>
          <p:cNvSpPr txBox="1"/>
          <p:nvPr/>
        </p:nvSpPr>
        <p:spPr>
          <a:xfrm>
            <a:off x="3299371" y="2049284"/>
            <a:ext cx="13236029" cy="1045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Sansation Bold" panose="020B0604020202020204"/>
              </a:rPr>
              <a:t>The Quality Audit Dashboard provides a comprehensive overview of task quality, defect rates, and error trends across departments, managers, employees, and locations.</a:t>
            </a:r>
            <a:endParaRPr lang="en-IN" sz="2200" dirty="0">
              <a:latin typeface="Sansation Bold" panose="020B060402020202020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6CD27-3769-AB43-D52B-EE11288830BA}"/>
              </a:ext>
            </a:extLst>
          </p:cNvPr>
          <p:cNvSpPr txBox="1"/>
          <p:nvPr/>
        </p:nvSpPr>
        <p:spPr>
          <a:xfrm>
            <a:off x="3581400" y="3162299"/>
            <a:ext cx="5029200" cy="3780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Overall Quality Score: 81.12 %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Total Tasks: 43776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Overall Sample Score: 24.21 %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Sample Total: 1100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Overall Defects Score: 18.88 %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Total Defects: 2000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Overall Errors Score:7.75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Sansation Bold" panose="020B0604020202020204"/>
              </a:rPr>
              <a:t>Total Error</a:t>
            </a:r>
            <a:r>
              <a:rPr lang="en-IN" altLang="en-US" dirty="0">
                <a:latin typeface="Sansation Bold" panose="020B0604020202020204"/>
              </a:rPr>
              <a:t>:- 821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dirty="0">
                <a:latin typeface="Sansation Bold" panose="020B0604020202020204"/>
              </a:rPr>
              <a:t>Defects % is higher than Errors %</a:t>
            </a:r>
            <a:endParaRPr lang="en-US" altLang="en-US" dirty="0">
              <a:latin typeface="Sansation Bold" panose="020B0604020202020204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F5AEB3E-BBE5-B7D5-1AD9-176D83B55E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933" y="3086100"/>
            <a:ext cx="4800597" cy="55911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972C01-54CB-42A8-C70F-753FD1CB532A}"/>
              </a:ext>
            </a:extLst>
          </p:cNvPr>
          <p:cNvSpPr txBox="1"/>
          <p:nvPr/>
        </p:nvSpPr>
        <p:spPr>
          <a:xfrm>
            <a:off x="3124201" y="7106621"/>
            <a:ext cx="594360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Sansation Bold" panose="020B0604020202020204"/>
              </a:rPr>
              <a:t>Insights: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Sansation Bold" panose="020B0604020202020204"/>
              </a:rPr>
              <a:t>Quality score is stable around 79–82%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Sansation Bold" panose="020B0604020202020204"/>
              </a:rPr>
              <a:t>Defects % higher than Errors %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24E8BF-B907-722F-99CD-5567B0476789}"/>
              </a:ext>
            </a:extLst>
          </p:cNvPr>
          <p:cNvSpPr txBox="1"/>
          <p:nvPr/>
        </p:nvSpPr>
        <p:spPr>
          <a:xfrm>
            <a:off x="4077183" y="2558177"/>
            <a:ext cx="10133634" cy="4057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latin typeface="Sansation Bold" panose="020B0604020202020204"/>
              </a:rPr>
              <a:t>Top Performing Department: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Sales (Stable and consistent quality score: 83.94%)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Lower defects and controlled error rates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latin typeface="Sansation Bold" panose="020B0604020202020204"/>
              </a:rPr>
              <a:t>Low Performing Department: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Finance (Slightly lower quality score: 79.55%)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Higher defect percentage compared to others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b="1" dirty="0">
                <a:latin typeface="Sansation Bold" panose="020B0604020202020204"/>
              </a:rPr>
              <a:t>Sales Department: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Handles the highest workload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Moderate performance with improvement potential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1C5363-4388-A4C6-70BC-113D3CDA9863}"/>
              </a:ext>
            </a:extLst>
          </p:cNvPr>
          <p:cNvSpPr txBox="1"/>
          <p:nvPr/>
        </p:nvSpPr>
        <p:spPr>
          <a:xfrm>
            <a:off x="4648200" y="1165879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Sansation Bold" panose="020B0604020202020204"/>
              </a:rPr>
              <a:t>Department Performance Analysis</a:t>
            </a:r>
            <a:endParaRPr lang="en-US" sz="3600" b="1" spc="104" dirty="0">
              <a:solidFill>
                <a:srgbClr val="000000"/>
              </a:solidFill>
              <a:latin typeface="Sansation Bold" panose="020B0604020202020204"/>
              <a:ea typeface="Sansation Bold" panose="020B0604020202020204"/>
              <a:cs typeface="Sansation Bold" panose="020B0604020202020204"/>
              <a:sym typeface="Sansation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08649" y="437331"/>
            <a:ext cx="12070701" cy="58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032"/>
              </a:lnSpc>
              <a:spcBef>
                <a:spcPct val="0"/>
              </a:spcBef>
            </a:pPr>
            <a:r>
              <a:rPr lang="en-IN" sz="3600" dirty="0">
                <a:latin typeface="Sansation Bold" panose="020B0604020202020204"/>
              </a:rPr>
              <a:t>Monthly Analysis </a:t>
            </a:r>
            <a:r>
              <a:rPr lang="en-US" sz="3600" dirty="0">
                <a:latin typeface="Sansation Bold" panose="020B0604020202020204"/>
              </a:rPr>
              <a:t>Trends &amp; Patterns in Defects and Errors</a:t>
            </a:r>
            <a:endParaRPr lang="en-US" sz="3600" spc="100" dirty="0">
              <a:solidFill>
                <a:srgbClr val="3F3E3A"/>
              </a:solidFill>
              <a:latin typeface="Sansation Bold" panose="020B0604020202020204"/>
              <a:ea typeface="Clear Sans"/>
              <a:cs typeface="Clear Sans"/>
              <a:sym typeface="Clear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4BC46-8A17-8B22-339C-4339F97647A8}"/>
              </a:ext>
            </a:extLst>
          </p:cNvPr>
          <p:cNvSpPr txBox="1"/>
          <p:nvPr/>
        </p:nvSpPr>
        <p:spPr>
          <a:xfrm>
            <a:off x="4158371" y="1293399"/>
            <a:ext cx="8915400" cy="438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Sansation Bold" panose="020B0604020202020204"/>
              </a:rPr>
              <a:t>Monthly Trends: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	March shows peak defects (22.05%) and errors (10.45%)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	April shows lowest error percentage (5.64%)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	Performance fluctuates month-to-month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	Need investigation in peak months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Sansation Bold" panose="020B0604020202020204"/>
              </a:rPr>
              <a:t>Observations: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	Defects % consistently higher than Errors 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	Certain managers and employees show recurring quality gaps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	Regional variation impacts quality performance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A24128-EE8F-0C0B-1AB5-79F871AA97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56" y="5603719"/>
            <a:ext cx="8431161" cy="412564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CB8D80-6BE3-E6EE-2442-42B7E34FEA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5603719"/>
            <a:ext cx="8915400" cy="41256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A05A70-6395-F44E-87D7-9FDB2DC146C2}"/>
              </a:ext>
            </a:extLst>
          </p:cNvPr>
          <p:cNvSpPr txBox="1"/>
          <p:nvPr/>
        </p:nvSpPr>
        <p:spPr>
          <a:xfrm>
            <a:off x="6564091" y="495300"/>
            <a:ext cx="4597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600" dirty="0">
                <a:latin typeface="Sansation Bold" panose="020B0604020202020204"/>
              </a:rPr>
              <a:t>Department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A7F96-6C11-768F-576D-5787C8123AA8}"/>
              </a:ext>
            </a:extLst>
          </p:cNvPr>
          <p:cNvSpPr txBox="1"/>
          <p:nvPr/>
        </p:nvSpPr>
        <p:spPr>
          <a:xfrm>
            <a:off x="4984074" y="1485072"/>
            <a:ext cx="8479167" cy="1553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Sansation Bold" panose="020B0604020202020204"/>
              </a:rPr>
              <a:t>Sales - Sales department shows moderate performance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Sansation Bold" panose="020B0604020202020204"/>
              </a:rPr>
              <a:t>Finance - Finance slightly lower quality score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>
                <a:latin typeface="Sansation Bold" panose="020B0604020202020204"/>
              </a:rPr>
              <a:t>Backoffice - Backoffice stable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C1809-B745-C950-DB4E-B412171D2F39}"/>
              </a:ext>
            </a:extLst>
          </p:cNvPr>
          <p:cNvSpPr txBox="1"/>
          <p:nvPr/>
        </p:nvSpPr>
        <p:spPr>
          <a:xfrm>
            <a:off x="745676" y="3305988"/>
            <a:ext cx="8117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nsation Bold" panose="020B0604020202020204"/>
              </a:rPr>
              <a:t>Sales Department Comparisons</a:t>
            </a:r>
            <a:r>
              <a:rPr lang="en-US" altLang="en-US" dirty="0">
                <a:latin typeface="Sansation Bold" panose="020B0604020202020204"/>
              </a:rPr>
              <a:t> to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nsation Bold" panose="020B0604020202020204"/>
              </a:rPr>
              <a:t> Quality Score Vs Defects % Vs  Error %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C328FFA-B16C-8DC0-FB11-44151ADE34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181" y="3742876"/>
            <a:ext cx="7026645" cy="21055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E26461-0B8D-CD22-F71D-6CAD6B86C82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919" y="3742876"/>
            <a:ext cx="7026645" cy="21055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785681-D17A-C2FF-FF68-0061E7FDA94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545" y="6855501"/>
            <a:ext cx="7026646" cy="207343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AC38EB-E8B3-8069-8141-6740B46D523E}"/>
              </a:ext>
            </a:extLst>
          </p:cNvPr>
          <p:cNvSpPr txBox="1"/>
          <p:nvPr/>
        </p:nvSpPr>
        <p:spPr>
          <a:xfrm>
            <a:off x="9356188" y="3305988"/>
            <a:ext cx="796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Sansation Bold" panose="020B0604020202020204"/>
              </a:rPr>
              <a:t>Finance Department</a:t>
            </a:r>
            <a:r>
              <a:rPr lang="en-US" altLang="en-US" dirty="0">
                <a:latin typeface="Sansation Bold" panose="020B0604020202020204"/>
              </a:rPr>
              <a:t> Comparisons to</a:t>
            </a:r>
            <a:r>
              <a:rPr lang="en-IN" dirty="0">
                <a:latin typeface="Sansation Bold" panose="020B0604020202020204"/>
              </a:rPr>
              <a:t> </a:t>
            </a:r>
            <a:r>
              <a:rPr lang="en-US" altLang="en-US" dirty="0">
                <a:latin typeface="Sansation Bold" panose="020B0604020202020204"/>
              </a:rPr>
              <a:t>Quality Score Vs Defects % Vs Error %</a:t>
            </a:r>
            <a:endParaRPr lang="en-IN" dirty="0">
              <a:latin typeface="Sansation Bold" panose="020B060402020202020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30438B-7D91-2824-4403-F112F6036E81}"/>
              </a:ext>
            </a:extLst>
          </p:cNvPr>
          <p:cNvSpPr txBox="1"/>
          <p:nvPr/>
        </p:nvSpPr>
        <p:spPr>
          <a:xfrm>
            <a:off x="4711895" y="6333711"/>
            <a:ext cx="830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Sansation Bold" panose="020B0604020202020204"/>
              </a:rPr>
              <a:t>Backoffice Department </a:t>
            </a:r>
            <a:r>
              <a:rPr lang="en-US" altLang="en-US" dirty="0">
                <a:latin typeface="Sansation Bold" panose="020B0604020202020204"/>
              </a:rPr>
              <a:t>Comparisons to  Quality Score Vs Defects % Vs Error %</a:t>
            </a:r>
            <a:endParaRPr lang="en-IN" dirty="0">
              <a:latin typeface="Sansation Bold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547612-2FFA-B3C6-DBB4-3E922E6B120E}"/>
              </a:ext>
            </a:extLst>
          </p:cNvPr>
          <p:cNvSpPr txBox="1"/>
          <p:nvPr/>
        </p:nvSpPr>
        <p:spPr>
          <a:xfrm>
            <a:off x="3619749" y="730457"/>
            <a:ext cx="11670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Sansation Bold" panose="020B0604020202020204"/>
              </a:rPr>
              <a:t>Quality Details base on Manager Performance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722B2-406D-AA13-677B-EDB3673E5788}"/>
              </a:ext>
            </a:extLst>
          </p:cNvPr>
          <p:cNvSpPr txBox="1"/>
          <p:nvPr/>
        </p:nvSpPr>
        <p:spPr>
          <a:xfrm>
            <a:off x="3733800" y="2996795"/>
            <a:ext cx="10132140" cy="1703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lang="en-US" altLang="en-US" dirty="0">
                <a:latin typeface="Sansation Bold" panose="020B0604020202020204"/>
              </a:rPr>
              <a:t>	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nsation Bold" panose="020B0604020202020204"/>
              </a:rPr>
              <a:t>Diana Mark – High Quality Score &amp; Sample%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nsation Bold" panose="020B0604020202020204"/>
              </a:rPr>
              <a:t>	Evelyn Harry –  Higher defects %</a:t>
            </a:r>
            <a:endParaRPr lang="en-US" altLang="en-US" dirty="0">
              <a:latin typeface="Sansation Bold" panose="020B0604020202020204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nsation Bold" panose="020B0604020202020204"/>
              </a:rPr>
              <a:t>	Ethan </a:t>
            </a:r>
            <a:r>
              <a:rPr lang="en-US" altLang="en-US" dirty="0">
                <a:latin typeface="Sansation Bold" panose="020B0604020202020204"/>
              </a:rPr>
              <a:t>Harry – Low Error 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sation Bold" panose="020B0604020202020204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nsation Bold" panose="020B0604020202020204"/>
              </a:rPr>
              <a:t>	Identify managers needing improvement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ECCFAB-20CB-856F-CE56-E368910159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12" y="5079388"/>
            <a:ext cx="9450119" cy="27150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5056B03-3577-5EC3-BA0C-EDA2865DB7FE}"/>
              </a:ext>
            </a:extLst>
          </p:cNvPr>
          <p:cNvSpPr txBox="1"/>
          <p:nvPr/>
        </p:nvSpPr>
        <p:spPr>
          <a:xfrm>
            <a:off x="3550002" y="2492608"/>
            <a:ext cx="101321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Sansation Bold" panose="020B0604020202020204"/>
              </a:rPr>
              <a:t>Insights: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F7B05E-C71F-D101-DD05-FA69B590406A}"/>
              </a:ext>
            </a:extLst>
          </p:cNvPr>
          <p:cNvSpPr txBox="1"/>
          <p:nvPr/>
        </p:nvSpPr>
        <p:spPr>
          <a:xfrm>
            <a:off x="3444270" y="462873"/>
            <a:ext cx="11888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Sansation Bold" panose="020B0604020202020204"/>
              </a:rPr>
              <a:t>Quality Details base on Employee Performance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4B622E-C00C-6E98-1BED-887D0BC1AEB4}"/>
              </a:ext>
            </a:extLst>
          </p:cNvPr>
          <p:cNvSpPr txBox="1"/>
          <p:nvPr/>
        </p:nvSpPr>
        <p:spPr>
          <a:xfrm>
            <a:off x="3784796" y="1798802"/>
            <a:ext cx="5105400" cy="6689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Anthony Noah is the department of sales employee best quality score.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Christian Jonathan is the department of finance employee low quality score.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Catherine Paul is the department of </a:t>
            </a:r>
            <a:r>
              <a:rPr lang="en-US" altLang="en-US" dirty="0" err="1">
                <a:latin typeface="Sansation Bold" panose="020B0604020202020204"/>
              </a:rPr>
              <a:t>backoffice</a:t>
            </a:r>
            <a:r>
              <a:rPr lang="en-US" altLang="en-US" dirty="0">
                <a:latin typeface="Sansation Bold" panose="020B0604020202020204"/>
              </a:rPr>
              <a:t> employee high Error % 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Ryan Bryan is the department of sales employee low Error %.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Christina Jonathan is the department of finance employee high Defects %.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Anthony Noah is the department of sales employee low Defects %.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Jennifer Arthur is the department of </a:t>
            </a:r>
            <a:r>
              <a:rPr lang="en-US" altLang="en-US" dirty="0" err="1">
                <a:latin typeface="Sansation Bold" panose="020B0604020202020204"/>
              </a:rPr>
              <a:t>backoffice</a:t>
            </a:r>
            <a:r>
              <a:rPr lang="en-US" altLang="en-US" dirty="0">
                <a:latin typeface="Sansation Bold" panose="020B0604020202020204"/>
              </a:rPr>
              <a:t> employee high sample %.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Sansation Bold" panose="020B0604020202020204"/>
              </a:rPr>
              <a:t>Julie Aaron is the department of </a:t>
            </a:r>
            <a:r>
              <a:rPr lang="en-US" altLang="en-US" dirty="0" err="1">
                <a:latin typeface="Sansation Bold" panose="020B0604020202020204"/>
              </a:rPr>
              <a:t>seles</a:t>
            </a:r>
            <a:r>
              <a:rPr lang="en-US" altLang="en-US" dirty="0">
                <a:latin typeface="Sansation Bold" panose="020B0604020202020204"/>
              </a:rPr>
              <a:t> employee low sample %.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5FDF104-C873-9E0F-4CD4-00D20AD856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750" y="1705470"/>
            <a:ext cx="6726751" cy="74951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C7D46-DDED-16FF-6D93-40F8AA8E7E30}"/>
              </a:ext>
            </a:extLst>
          </p:cNvPr>
          <p:cNvSpPr txBox="1"/>
          <p:nvPr/>
        </p:nvSpPr>
        <p:spPr>
          <a:xfrm>
            <a:off x="4419600" y="1257300"/>
            <a:ext cx="10133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Sansation Bold" panose="020B0604020202020204"/>
              </a:rPr>
              <a:t>Quality Details base on Location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2D4C9-59BA-F555-CE40-D2CB8F3CCBCB}"/>
              </a:ext>
            </a:extLst>
          </p:cNvPr>
          <p:cNvSpPr txBox="1"/>
          <p:nvPr/>
        </p:nvSpPr>
        <p:spPr>
          <a:xfrm>
            <a:off x="2687251" y="2320913"/>
            <a:ext cx="51054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In the Australian Department of Backoffice, quality score are performing high.</a:t>
            </a:r>
            <a:endParaRPr lang="en-US" altLang="en-US" dirty="0">
              <a:latin typeface="Sansation Bold" panose="020B0604020202020204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ansation Bold" panose="020B0604020202020204"/>
              </a:rPr>
              <a:t>United Kingdom finance quality score is low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ansation Bold" panose="020B0604020202020204"/>
              </a:rPr>
              <a:t>United Kingdom finance department Error % and Defects % is High.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ansation Bold" panose="020B0604020202020204"/>
              </a:rPr>
              <a:t>Australia </a:t>
            </a:r>
            <a:r>
              <a:rPr lang="en-US" altLang="en-US" dirty="0" err="1">
                <a:latin typeface="Sansation Bold" panose="020B0604020202020204"/>
              </a:rPr>
              <a:t>backoffice</a:t>
            </a:r>
            <a:r>
              <a:rPr lang="en-US" altLang="en-US" dirty="0">
                <a:latin typeface="Sansation Bold" panose="020B0604020202020204"/>
              </a:rPr>
              <a:t> department Error % and Defects % is low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ansation Bold" panose="020B0604020202020204"/>
              </a:rPr>
              <a:t>Australia </a:t>
            </a:r>
            <a:r>
              <a:rPr lang="en-US" altLang="en-US" dirty="0" err="1">
                <a:latin typeface="Sansation Bold" panose="020B0604020202020204"/>
              </a:rPr>
              <a:t>backoffice</a:t>
            </a:r>
            <a:r>
              <a:rPr lang="en-US" altLang="en-US" dirty="0">
                <a:latin typeface="Sansation Bold" panose="020B0604020202020204"/>
              </a:rPr>
              <a:t> department Sample % is High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ansation Bold" panose="020B0604020202020204"/>
              </a:rPr>
              <a:t>United States sales department sample % is low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C7A8B0-8DBB-C8A2-9E2B-4D24679332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4488" y="2552700"/>
            <a:ext cx="6001588" cy="39153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495738" y="830371"/>
            <a:ext cx="7620062" cy="586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032"/>
              </a:lnSpc>
              <a:spcBef>
                <a:spcPct val="0"/>
              </a:spcBef>
            </a:pPr>
            <a:r>
              <a:rPr lang="en-IN" sz="3600" dirty="0">
                <a:latin typeface="Sansation Bold" panose="020B0604020202020204"/>
              </a:rPr>
              <a:t>Key Performance Gaps Identified</a:t>
            </a:r>
            <a:endParaRPr lang="en-US" sz="3600" spc="100" dirty="0">
              <a:solidFill>
                <a:srgbClr val="3F3E3A"/>
              </a:solidFill>
              <a:latin typeface="Sansation Bold" panose="020B0604020202020204"/>
              <a:ea typeface="Clear Sans"/>
              <a:cs typeface="Clear Sans"/>
              <a:sym typeface="Clear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955D81-965F-21B5-5B1F-32BE07215390}"/>
              </a:ext>
            </a:extLst>
          </p:cNvPr>
          <p:cNvSpPr txBox="1"/>
          <p:nvPr/>
        </p:nvSpPr>
        <p:spPr>
          <a:xfrm>
            <a:off x="3581400" y="1790700"/>
            <a:ext cx="6404317" cy="3861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Quality Score  81.12% overall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Certain managers associated with higher defect rates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Regional inconsistency in quality standards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These patterns indicate operational or training-related challenges.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ansation Bold" panose="020B0604020202020204"/>
              </a:rPr>
              <a:t>Defects % more critical than Errors %</a:t>
            </a:r>
            <a:br>
              <a:rPr lang="en-US" dirty="0">
                <a:latin typeface="Sansation Bold" panose="020B0604020202020204"/>
              </a:rPr>
            </a:br>
            <a:r>
              <a:rPr lang="en-US" dirty="0">
                <a:latin typeface="Sansation Bold" panose="020B0604020202020204"/>
              </a:rPr>
              <a:t> Some managers/locations need improvement</a:t>
            </a:r>
            <a:br>
              <a:rPr lang="en-US" dirty="0">
                <a:latin typeface="Sansation Bold" panose="020B0604020202020204"/>
              </a:rPr>
            </a:br>
            <a:r>
              <a:rPr lang="en-US" dirty="0">
                <a:latin typeface="Sansation Bold" panose="020B0604020202020204"/>
              </a:rPr>
              <a:t>Sales department dominates workload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Sansation Bold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12015" y="826684"/>
            <a:ext cx="6608113" cy="60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5032"/>
              </a:lnSpc>
              <a:spcBef>
                <a:spcPct val="0"/>
              </a:spcBef>
            </a:pPr>
            <a:r>
              <a:rPr lang="en-IN" sz="3600" dirty="0">
                <a:latin typeface="Sansation Bold" panose="020B0604020202020204"/>
              </a:rPr>
              <a:t>Actionable Recommendations</a:t>
            </a:r>
            <a:endParaRPr lang="en-US" sz="3354" spc="100" dirty="0">
              <a:solidFill>
                <a:srgbClr val="3F3E3A"/>
              </a:solidFill>
              <a:latin typeface="Sansation Bold" panose="020B0604020202020204"/>
              <a:ea typeface="Clear Sans"/>
              <a:cs typeface="Clear Sans"/>
              <a:sym typeface="Clear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98F3D-2077-F86C-EDA2-A98A439B361C}"/>
              </a:ext>
            </a:extLst>
          </p:cNvPr>
          <p:cNvSpPr txBox="1"/>
          <p:nvPr/>
        </p:nvSpPr>
        <p:spPr>
          <a:xfrm>
            <a:off x="4078682" y="1674454"/>
            <a:ext cx="8610600" cy="607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>
                <a:latin typeface="Sansation Bold" panose="020B0604020202020204"/>
              </a:rPr>
              <a:t>Short-Term Actions: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Conduct targeted training for low-performing employees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Investigate root causes for high defect months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Introduce weekly quality monitoring reviews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Provide feedback dashboards to managers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200" b="1" dirty="0">
                <a:latin typeface="Sansation Bold" panose="020B0604020202020204"/>
              </a:rPr>
              <a:t>Medium-Term Actions: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Standardize quality processes across departments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Implement performance-based incentives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Automate repetitive error-prone processes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>
                <a:latin typeface="Sansation Bold" panose="020B0604020202020204"/>
              </a:rPr>
              <a:t> </a:t>
            </a:r>
            <a:r>
              <a:rPr lang="en-IN" sz="2200" b="1" dirty="0">
                <a:latin typeface="Sansation Bold" panose="020B0604020202020204"/>
              </a:rPr>
              <a:t>Long-Term Strategy: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Develop a predictive quality monitoring system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Implement continuous improvement framework</a:t>
            </a:r>
          </a:p>
          <a:p>
            <a:pPr marL="800100" lvl="1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Sansation Bold" panose="020B0604020202020204"/>
              </a:rPr>
              <a:t>Use trend analysis for proactive risk management</a:t>
            </a:r>
          </a:p>
          <a:p>
            <a:endParaRPr lang="en-IN" sz="2000" dirty="0">
              <a:latin typeface="Sansation Bold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67901A-8835-4DF5-5305-8E3DF370F9A1}"/>
              </a:ext>
            </a:extLst>
          </p:cNvPr>
          <p:cNvSpPr txBox="1"/>
          <p:nvPr/>
        </p:nvSpPr>
        <p:spPr>
          <a:xfrm>
            <a:off x="5065783" y="1441611"/>
            <a:ext cx="6109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Sansation Bold" panose="020B0604020202020204"/>
              </a:rPr>
              <a:t>Business Recommendations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967F3-DF0B-BD64-51AA-6BABBE872BAA}"/>
              </a:ext>
            </a:extLst>
          </p:cNvPr>
          <p:cNvSpPr txBox="1"/>
          <p:nvPr/>
        </p:nvSpPr>
        <p:spPr>
          <a:xfrm>
            <a:off x="3545993" y="2993107"/>
            <a:ext cx="6072496" cy="21189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     Provide training for low-performing employees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     Conduct root cause analysis for high defect months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     Monitor managers with higher error rates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     Implement continuous quality monitoring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     Use dashboard for monthly review meetings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6DA0F50-4A4B-95C9-2088-580FD3B06FF7}"/>
              </a:ext>
            </a:extLst>
          </p:cNvPr>
          <p:cNvGrpSpPr/>
          <p:nvPr/>
        </p:nvGrpSpPr>
        <p:grpSpPr>
          <a:xfrm>
            <a:off x="11161764" y="2476500"/>
            <a:ext cx="5532875" cy="2817079"/>
            <a:chOff x="11201400" y="2628660"/>
            <a:chExt cx="5532875" cy="281707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73B3030-0061-2AF6-94AA-5C95FEDC7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5"/>
                </a:ext>
              </a:extLst>
            </a:blip>
            <a:stretch>
              <a:fillRect/>
            </a:stretch>
          </p:blipFill>
          <p:spPr>
            <a:xfrm>
              <a:off x="11201400" y="2628660"/>
              <a:ext cx="5532875" cy="281707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2831FC7-394B-A6E1-0585-140E6A2AD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7"/>
                </a:ext>
              </a:extLst>
            </a:blip>
            <a:stretch>
              <a:fillRect/>
            </a:stretch>
          </p:blipFill>
          <p:spPr>
            <a:xfrm>
              <a:off x="14949192" y="4381500"/>
              <a:ext cx="1349073" cy="10642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32122" y="899630"/>
            <a:ext cx="7772400" cy="586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032"/>
              </a:lnSpc>
              <a:spcBef>
                <a:spcPct val="0"/>
              </a:spcBef>
            </a:pPr>
            <a:r>
              <a:rPr lang="en-IN" sz="3600" dirty="0">
                <a:latin typeface="Sansation Bold" panose="020B0604020202020204"/>
              </a:rPr>
              <a:t>Strategic Improvement Suggestions</a:t>
            </a:r>
            <a:r>
              <a:rPr lang="en-US" sz="3600" spc="100" dirty="0">
                <a:solidFill>
                  <a:srgbClr val="3F3E3A"/>
                </a:solidFill>
                <a:latin typeface="Sansation Bold" panose="020B0604020202020204"/>
                <a:ea typeface="Clear Sans"/>
                <a:cs typeface="Clear Sans"/>
                <a:sym typeface="Clear Sans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3551" y="2357458"/>
            <a:ext cx="8458200" cy="2442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ansation Bold" panose="020B0604020202020204"/>
              </a:rPr>
              <a:t>To enhance overall quality performance: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Sansation Bold" panose="020B0604020202020204"/>
              </a:rPr>
              <a:t>Adopt data-driven review meetings using the dashboard.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Sansation Bold" panose="020B0604020202020204"/>
              </a:rPr>
              <a:t>Strengthen accountability at manager level.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Sansation Bold" panose="020B0604020202020204"/>
              </a:rPr>
              <a:t>Align workload distribution to reduce process pressure.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Sansation Bold" panose="020B0604020202020204"/>
              </a:rPr>
              <a:t>Introduce quality KPIs linked to performance appraisals.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Sansation Bold" panose="020B0604020202020204"/>
              </a:rPr>
              <a:t>Promote a culture of continuous quality improvement.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C1B50B-D2B2-1BCD-5ED0-5C46254C50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10744200" y="4421658"/>
            <a:ext cx="5810186" cy="2780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62400" y="1257300"/>
            <a:ext cx="9830047" cy="586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5032"/>
              </a:lnSpc>
              <a:spcBef>
                <a:spcPct val="0"/>
              </a:spcBef>
            </a:pPr>
            <a:r>
              <a:rPr lang="en-IN" sz="3600" dirty="0">
                <a:latin typeface="Sansation Bold" panose="020B0604020202020204"/>
              </a:rPr>
              <a:t>Conclusion</a:t>
            </a:r>
            <a:endParaRPr lang="en-US" sz="3600" spc="100" dirty="0">
              <a:solidFill>
                <a:srgbClr val="3F3E3A"/>
              </a:solidFill>
              <a:latin typeface="Sansation Bold" panose="020B0604020202020204"/>
              <a:ea typeface="Clear Sans"/>
              <a:cs typeface="Clear Sans"/>
              <a:sym typeface="Clear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041EF-DA2F-3D54-5C83-1CC5A5D8A1A7}"/>
              </a:ext>
            </a:extLst>
          </p:cNvPr>
          <p:cNvSpPr txBox="1"/>
          <p:nvPr/>
        </p:nvSpPr>
        <p:spPr>
          <a:xfrm>
            <a:off x="3609134" y="2313741"/>
            <a:ext cx="12801599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ansation Bold" panose="020B0604020202020204"/>
              </a:rPr>
              <a:t>The Quality Audit Dashboard enables: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Sansation Bold" panose="020B0604020202020204"/>
              </a:rPr>
              <a:t>360° performance visibility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Helps identify risk areas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Supports data-driven decisions </a:t>
            </a:r>
            <a:r>
              <a:rPr lang="en-US" dirty="0">
                <a:latin typeface="Sansation Bold" panose="020B0604020202020204"/>
              </a:rPr>
              <a:t>making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Sansation Bold" panose="020B0604020202020204"/>
              </a:rPr>
              <a:t>Strategic performance optimization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dirty="0">
                <a:latin typeface="Sansation Bold" panose="020B0604020202020204"/>
              </a:rPr>
              <a:t>Enables management to take corrective actions</a:t>
            </a:r>
            <a:endParaRPr lang="en-US" dirty="0">
              <a:latin typeface="Sansation Bold" panose="020B0604020202020204"/>
            </a:endParaRP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Sansation Bold" panose="020B0604020202020204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Sansation Bold" panose="020B0604020202020204"/>
              </a:rPr>
              <a:t>While overall performance remains stable (83%), focused intervention in high-defect areas can significantly improve organizational efficiency and customer satisfaction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99372" y="5221503"/>
            <a:ext cx="11689257" cy="1685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69"/>
              </a:lnSpc>
              <a:spcBef>
                <a:spcPct val="0"/>
              </a:spcBef>
            </a:pPr>
            <a:r>
              <a:rPr lang="en-US" sz="11057" b="1" spc="11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61662" y="3370047"/>
            <a:ext cx="8964676" cy="2038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976"/>
              </a:lnSpc>
              <a:spcBef>
                <a:spcPct val="0"/>
              </a:spcBef>
            </a:pPr>
            <a:r>
              <a:rPr lang="en-US" sz="13313" b="1" spc="399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948</Words>
  <Application>Microsoft Office PowerPoint</Application>
  <PresentationFormat>Custom</PresentationFormat>
  <Paragraphs>132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Wingdings</vt:lpstr>
      <vt:lpstr>Arial</vt:lpstr>
      <vt:lpstr>Calibri</vt:lpstr>
      <vt:lpstr>Sansation Bold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Abstract Minimalist Project Presentation</dc:title>
  <dc:creator>charudatta Patil</dc:creator>
  <cp:lastModifiedBy>charudatta Patil</cp:lastModifiedBy>
  <cp:revision>5</cp:revision>
  <dcterms:created xsi:type="dcterms:W3CDTF">2006-08-16T00:00:00Z</dcterms:created>
  <dcterms:modified xsi:type="dcterms:W3CDTF">2026-02-23T19:01:05Z</dcterms:modified>
  <dc:identifier>DAHCElTnRG8</dc:identifier>
</cp:coreProperties>
</file>